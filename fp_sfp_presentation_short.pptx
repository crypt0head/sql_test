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71" d="100"/>
          <a:sy n="71" d="100"/>
        </p:scale>
        <p:origin x="-154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653D21-FDBD-4484-ADF8-8F544B7EA25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6536A-5FA9-4DEE-8A2F-80058FF184E8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1. Основание и периметр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Источники: 4 финальных отчета (ДМУКП, ДР, динамика ФП, мониторинг).</a:t>
            </a:r>
          </a:p>
          <a:p>
            <a:r>
              <a:rPr lang="ru-RU" smtClean="0"/>
              <a:t>- Период: 2023-2025.</a:t>
            </a:r>
          </a:p>
          <a:p>
            <a:r>
              <a:rPr lang="ru-RU" smtClean="0"/>
              <a:t>- Сегменты: МкБ, МСБ, ККБ.</a:t>
            </a:r>
          </a:p>
          <a:p>
            <a:r>
              <a:rPr lang="ru-RU" smtClean="0"/>
              <a:t>- Единица анализа: компания (ИНН) и карточка ФП/СФП.</a:t>
            </a:r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2. Методика (ДМУКП vs ДР)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smtClean="0"/>
              <a:t>- В логике ДМУКП дефолт фиксируется по определяющим ФП/СФП, дата дефолта = дата первого определяющего фактора.</a:t>
            </a:r>
          </a:p>
          <a:p>
            <a:r>
              <a:rPr lang="ru-RU" smtClean="0"/>
              <a:t>- В логике ДР дефолт определяется по реестру дефолтов (default_flag = 1).</a:t>
            </a:r>
          </a:p>
          <a:p>
            <a:r>
              <a:rPr lang="ru-RU" smtClean="0"/>
              <a:t>- ФП после даты дефолта исключаются (защита от data leakage).</a:t>
            </a:r>
          </a:p>
          <a:p>
            <a:r>
              <a:rPr lang="ru-RU" smtClean="0"/>
              <a:t>- Для сравнения факторов используются доля дефолта и Lift.</a:t>
            </a:r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3. База данных анализа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CRM после подготовки: 106 160 уникальных событий по 9 919 ИНН.</a:t>
            </a:r>
          </a:p>
          <a:p>
            <a:r>
              <a:rPr lang="ru-RU" smtClean="0"/>
              <a:t>- В динамике ФП: 99,0% событий - ФП, 1,0% - СФП.</a:t>
            </a:r>
          </a:p>
          <a:p>
            <a:r>
              <a:rPr lang="ru-RU" smtClean="0"/>
              <a:t>- Для мониторинга: 104 268 карточек, пригодных для анализа.</a:t>
            </a:r>
          </a:p>
          <a:p>
            <a:r>
              <a:rPr lang="ru-RU" smtClean="0"/>
              <a:t>- Вывод: объем данных достаточен для сегментных выводов.</a:t>
            </a:r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4. Дефолтность по логике ДМУКП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Всего дефолтных компаний: 539 (5,43%).</a:t>
            </a:r>
          </a:p>
          <a:p>
            <a:r>
              <a:rPr lang="ru-RU" smtClean="0"/>
              <a:t>- По сегментам: МкБ 3,97%, МСБ 5,38%, ККБ 14,13%.</a:t>
            </a:r>
          </a:p>
          <a:p>
            <a:r>
              <a:rPr lang="ru-RU" smtClean="0"/>
              <a:t>- После окна наблюдения 3 месяца: 500 дефолтов, DR 5,06%.</a:t>
            </a:r>
          </a:p>
          <a:p>
            <a:r>
              <a:rPr lang="ru-RU" smtClean="0"/>
              <a:t>- Вывод: сегмент ККБ имеет наиболее высокий риск и требует отдельных правил.</a:t>
            </a:r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5. Динамика ФП по сегментам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- 65,9% ИНН относится к МкБ; МСБ - 22,9%; ККБ - 11,2%.</a:t>
            </a:r>
          </a:p>
          <a:p>
            <a:r>
              <a:rPr lang="ru-RU" smtClean="0"/>
              <a:t>- Топ-3 ФП формируют 25,7% всех ФП (лидер - ФП 24, 9,2%).</a:t>
            </a:r>
          </a:p>
          <a:p>
            <a:r>
              <a:rPr lang="ru-RU" smtClean="0"/>
              <a:t>- В МкБ лидирует 24; в МСБ - 24.4; в ККБ - 1.2 (39,85% ФП сегмента).</a:t>
            </a:r>
          </a:p>
          <a:p>
            <a:r>
              <a:rPr lang="ru-RU" smtClean="0"/>
              <a:t>- Вывод: структура факторов сильно сегментирована.</a:t>
            </a:r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6. Ключевые риск-факторы (по ДМУКП)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МкБ: семейство 15.1 (Lift 3,0-3,3).</a:t>
            </a:r>
          </a:p>
          <a:p>
            <a:r>
              <a:rPr lang="ru-RU" smtClean="0"/>
              <a:t>- МСБ: ФП 13.1 (Lift 5,2).</a:t>
            </a:r>
          </a:p>
          <a:p>
            <a:r>
              <a:rPr lang="ru-RU" smtClean="0"/>
              <a:t>- ККБ: ФП 29.13.11 и 34 (Lift 4,7-6,0).</a:t>
            </a:r>
          </a:p>
          <a:p>
            <a:r>
              <a:rPr lang="ru-RU" smtClean="0"/>
              <a:t>- Универсальный триггер по дефолтам: фактор 13 (54-77% дефолтов).</a:t>
            </a:r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7. Комбинации ФП усиливают риск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- Lift </a:t>
            </a:r>
            <a:r>
              <a:rPr lang="ru-RU" smtClean="0"/>
              <a:t>пар/троек в среднем в 2-3 раза выше </a:t>
            </a:r>
            <a:r>
              <a:rPr lang="en-US" smtClean="0"/>
              <a:t>Lift </a:t>
            </a:r>
            <a:r>
              <a:rPr lang="ru-RU" smtClean="0"/>
              <a:t>одиночных ФП.</a:t>
            </a:r>
          </a:p>
          <a:p>
            <a:r>
              <a:rPr lang="ru-RU" smtClean="0"/>
              <a:t>- МкБ: тройка 15.1 + 22.2 + 24 (</a:t>
            </a:r>
            <a:r>
              <a:rPr lang="en-US" smtClean="0"/>
              <a:t>Lift 8,90).</a:t>
            </a:r>
          </a:p>
          <a:p>
            <a:r>
              <a:rPr lang="en-US" smtClean="0"/>
              <a:t>- </a:t>
            </a:r>
            <a:r>
              <a:rPr lang="ru-RU" smtClean="0"/>
              <a:t>МСБ: пара 15.1.1.1 + 16.1.1 (</a:t>
            </a:r>
            <a:r>
              <a:rPr lang="en-US" smtClean="0"/>
              <a:t>Lift 9,48; default rate 45,45%).</a:t>
            </a:r>
          </a:p>
          <a:p>
            <a:r>
              <a:rPr lang="en-US" smtClean="0"/>
              <a:t>- </a:t>
            </a:r>
            <a:r>
              <a:rPr lang="ru-RU" smtClean="0"/>
              <a:t>ККБ: пара 29.1.1.1 + 29.13.1 (</a:t>
            </a:r>
            <a:r>
              <a:rPr lang="en-US" smtClean="0"/>
              <a:t>default rate 70%; Lift 5,88).</a:t>
            </a:r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8. Временные сигналы до дефолта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Поздние сигналы: 15.1 (МкБ), 16.3 (МСБ), 34 (ККБ) - за 1-3 месяца до дефолта.</a:t>
            </a:r>
          </a:p>
          <a:p>
            <a:r>
              <a:rPr lang="ru-RU" smtClean="0"/>
              <a:t>- Ранние сигналы: 28.9, 26.1.1 и семейство 29 - за 8-24 месяца.</a:t>
            </a:r>
          </a:p>
          <a:p>
            <a:r>
              <a:rPr lang="ru-RU" smtClean="0"/>
              <a:t>- Вывод: требуется двухуровневый контур (наблюдение + эскалация).</a:t>
            </a:r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9. Результаты мониторинга: сценарии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Положительные: 47,0%.</a:t>
            </a:r>
          </a:p>
          <a:p>
            <a:r>
              <a:rPr lang="ru-RU" smtClean="0"/>
              <a:t>- Условно положительные: 28,8%.</a:t>
            </a:r>
          </a:p>
          <a:p>
            <a:r>
              <a:rPr lang="ru-RU" smtClean="0"/>
              <a:t>- Условно отрицательные: 14,0%; ошибки: 9,2%; отрицательные: 0,3%.</a:t>
            </a:r>
          </a:p>
          <a:p>
            <a:r>
              <a:rPr lang="ru-RU" smtClean="0"/>
              <a:t>- Итого 75,8% карточек закрываются положительно или условно положительно.</a:t>
            </a:r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10. Результаты мониторинга: ИПУ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На ИПУ: 12 858 карточек.</a:t>
            </a:r>
          </a:p>
          <a:p>
            <a:r>
              <a:rPr lang="ru-RU" smtClean="0"/>
              <a:t>- Положительные итоги ИПУ: 87,8%; отрицательные: 1,0%; активные: 9,2%.</a:t>
            </a:r>
          </a:p>
          <a:p>
            <a:r>
              <a:rPr lang="ru-RU" smtClean="0"/>
              <a:t>- МкБ: 91,8% положительных; ККБ: 74,4% положительных и 21,0% активных.</a:t>
            </a:r>
          </a:p>
          <a:p>
            <a:r>
              <a:rPr lang="ru-RU" smtClean="0"/>
              <a:t>- Вывод: ИПУ эффективен, но ККБ требует ускорения цикла.</a:t>
            </a:r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11. Проблемные зоны и быстрые меры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smtClean="0"/>
              <a:t>- Высокая доля ошибок по СФП (более 40% в мониторинге; особенно 40.1 и 15.2У).</a:t>
            </a:r>
          </a:p>
          <a:p>
            <a:r>
              <a:rPr lang="ru-RU" smtClean="0"/>
              <a:t>- ФП 16.1 - аномально высокий уровень ошибок среди ФП.</a:t>
            </a:r>
          </a:p>
          <a:p>
            <a:r>
              <a:rPr lang="ru-RU" smtClean="0"/>
              <a:t>- 1 316 карточек не попали в 6-группную классификацию результатов.</a:t>
            </a:r>
          </a:p>
          <a:p>
            <a:r>
              <a:rPr lang="ru-RU" smtClean="0"/>
              <a:t>- Меры: пересмотр критериев СФП, расширение классификатора, контроль качества дат.</a:t>
            </a:r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mtClean="0"/>
              <a:t>Слайд 12. Решение и KPI на комитет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ru-RU" smtClean="0"/>
              <a:t>- Утвердить сегментные правила мониторинга вместо единых.</a:t>
            </a:r>
          </a:p>
          <a:p>
            <a:r>
              <a:rPr lang="ru-RU" smtClean="0"/>
              <a:t>- Внедрить комбинационные триггеры (пары/тройки) в контур эскалации.</a:t>
            </a:r>
          </a:p>
          <a:p>
            <a:r>
              <a:rPr lang="ru-RU" smtClean="0"/>
              <a:t>- KPI: доля ошибок выявления, доля активных ИПУ, срок урегулирования, DR capture.</a:t>
            </a:r>
          </a:p>
          <a:p>
            <a:r>
              <a:rPr lang="ru-RU" smtClean="0"/>
              <a:t>- Запустить пилот и квартальный review по МкБ/МСБ/ККБ отдельно.</a:t>
            </a:r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</Words>
  <Application>Microsoft Office PowerPoint</Application>
  <PresentationFormat>Экран (4:3)</PresentationFormat>
  <Paragraphs>59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Тема Office</vt:lpstr>
      <vt:lpstr>Слайд 1. Основание и периметр</vt:lpstr>
      <vt:lpstr>Слайд 2. Методика (ДМУКП vs ДР)</vt:lpstr>
      <vt:lpstr>Слайд 3. База данных анализа</vt:lpstr>
      <vt:lpstr>Слайд 4. Дефолтность по логике ДМУКП</vt:lpstr>
      <vt:lpstr>Слайд 5. Динамика ФП по сегментам</vt:lpstr>
      <vt:lpstr>Слайд 6. Ключевые риск-факторы (по ДМУКП)</vt:lpstr>
      <vt:lpstr>Слайд 7. Комбинации ФП усиливают риск</vt:lpstr>
      <vt:lpstr>Слайд 8. Временные сигналы до дефолта</vt:lpstr>
      <vt:lpstr>Слайд 9. Результаты мониторинга: сценарии</vt:lpstr>
      <vt:lpstr>Слайд 10. Результаты мониторинга: ИПУ</vt:lpstr>
      <vt:lpstr>Слайд 11. Проблемные зоны и быстрые меры</vt:lpstr>
      <vt:lpstr>Слайд 12. Решение и KPI на комитет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1. Основание и периметр</dc:title>
  <dc:creator>Vladimir</dc:creator>
  <cp:lastModifiedBy>Vladimir</cp:lastModifiedBy>
  <cp:revision>1</cp:revision>
  <dcterms:created xsi:type="dcterms:W3CDTF">2026-04-15T06:46:24Z</dcterms:created>
  <dcterms:modified xsi:type="dcterms:W3CDTF">2026-04-15T06:46:24Z</dcterms:modified>
</cp:coreProperties>
</file>