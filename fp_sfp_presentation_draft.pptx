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FE9ED-B7AD-4706-A03A-EF3B2F9A1099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A1F78-DCFF-4A2B-BDC8-27980A3FC7B4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1. Аналитика ФП/СФП и дефолтов: итог исследования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Период: 2023-2025.</a:t>
            </a:r>
          </a:p>
          <a:p>
            <a:r>
              <a:rPr lang="ru-RU" smtClean="0"/>
              <a:t>- Периметр: CRM + дефолты + результаты мониторинга.</a:t>
            </a:r>
          </a:p>
          <a:p>
            <a:r>
              <a:rPr lang="ru-RU" smtClean="0"/>
              <a:t>- Сегменты: МкБ, МСБ, ККБ.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Цель исследования: выявить, какие ФП/СФП и их комбинации реально отделяют дефолтные кейсы от недефолтных.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Зафиксировать результаты как основу пересмотра правил ФП/СФП по сегментам.</a:t>
            </a:r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Слайд 2. Повестка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- 1) Методика и определения.</a:t>
            </a:r>
          </a:p>
          <a:p>
            <a:r>
              <a:rPr lang="ru-RU" smtClean="0"/>
              <a:t>- 2) Подтвержденные/опровергнутые гипотезы.</a:t>
            </a:r>
          </a:p>
          <a:p>
            <a:r>
              <a:rPr lang="ru-RU" smtClean="0"/>
              <a:t>- 3) Сегментные рекомендации и приоритеты.</a:t>
            </a:r>
          </a:p>
          <a:p>
            <a:r>
              <a:rPr lang="ru-RU" smtClean="0"/>
              <a:t>- Приложения: словарь аналитических терминов.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Логика построена от данных к управленческим решениям.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Согласовать критерии принятия решений по каждому блоку.</a:t>
            </a: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3. Постановка задачи и гипотезы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Гипотеза A: рост числа ФП связан с ростом дефолтности.</a:t>
            </a:r>
          </a:p>
          <a:p>
            <a:r>
              <a:rPr lang="ru-RU" smtClean="0"/>
              <a:t>- Гипотеза B: комбинации ФП сильнее одиночных ФП.</a:t>
            </a:r>
          </a:p>
          <a:p>
            <a:r>
              <a:rPr lang="ru-RU" smtClean="0"/>
              <a:t>- Гипотеза C: профиль "опасных" ФП различается по сегментам.</a:t>
            </a:r>
          </a:p>
          <a:p>
            <a:r>
              <a:rPr lang="ru-RU" smtClean="0"/>
              <a:t>- Гипотеза D: результаты мониторинга дают сигнал для переквалификации ФП/СФП.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Все гипотезы проверяются на общей базе с едиными метриками и единым окном времени.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Принимать решения только по гипотезам с подтвержденной статистической устойчивостью.</a:t>
            </a:r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4. Входные параметры и периметр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Единица анализа: компания (ИНН).</a:t>
            </a:r>
          </a:p>
          <a:p>
            <a:r>
              <a:rPr lang="ru-RU" smtClean="0"/>
              <a:t>- Выборка: 9 914 компаний, дефолтных 128 (DR=1.29%).</a:t>
            </a:r>
          </a:p>
          <a:p>
            <a:r>
              <a:rPr lang="ru-RU" smtClean="0"/>
              <a:t>- МкБ: 6 539, МСБ: 2 265, ККБ: 1 110.</a:t>
            </a:r>
          </a:p>
          <a:p>
            <a:r>
              <a:rPr lang="ru-RU" smtClean="0"/>
              <a:t>- События: выявления ФП/СФП, результаты мониторинга, дефолт (ДР/ДМУКП).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Данные позволяют валидно сравнивать сегменты и проверять гипотезы на одном основании.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Утвердить эту выборку как референтную для текущей итерации пересмотра правил.</a:t>
            </a:r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5. Источники и качество данных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Источники: CRM, реестр дефолтов, справочник ФП, классификатор сценариев.</a:t>
            </a:r>
          </a:p>
          <a:p>
            <a:r>
              <a:rPr lang="ru-RU" smtClean="0"/>
              <a:t>- Качество данных (пример defaults): 200 строк, полных дублей нет.</a:t>
            </a:r>
          </a:p>
          <a:p>
            <a:r>
              <a:rPr lang="ru-RU" smtClean="0"/>
              <a:t>- Ожидаемые пропуски: cure_date 25.0%, finish_date 21.5% (для активных кейсов).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Критичных дефектов качества, блокирующих анализ, не выявлено.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Сохранить контроль качества как обязательный пролог перед каждой квартальной переоценкой.</a:t>
            </a:r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6. Логика соотнесения ФП/мониторинга/дефолта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Связка по ИНН и времени: ФП/СФП -&gt; исход мониторинга -&gt; факт дефолта.</a:t>
            </a:r>
          </a:p>
          <a:p>
            <a:r>
              <a:rPr lang="ru-RU" smtClean="0"/>
              <a:t>- Отдельно считаются:</a:t>
            </a:r>
          </a:p>
          <a:p>
            <a:r>
              <a:rPr lang="ru-RU" smtClean="0"/>
              <a:t>- одиночные ФП,</a:t>
            </a:r>
          </a:p>
          <a:p>
            <a:r>
              <a:rPr lang="ru-RU" smtClean="0"/>
              <a:t>- пары и тройки ФП,</a:t>
            </a:r>
          </a:p>
          <a:p>
            <a:r>
              <a:rPr lang="ru-RU" smtClean="0"/>
              <a:t>- ФП, встречающиеся только в комбинациях.</a:t>
            </a:r>
          </a:p>
          <a:p>
            <a:r>
              <a:rPr lang="ru-RU" smtClean="0"/>
              <a:t>- Метрики: Support, Confidence, Lift + проверка значимости (Fisher + FDR).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Подход позволяет сравнивать "массовые" и "острые, но редкие" факторы без потери корректности.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Использовать Lift и FDR как базовые критерии приоритетов в изменении правил.</a:t>
            </a:r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7. Что считаем дефолтом: ДР vs ДМУКП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ДР: дефолт по реестру дефолтов.</a:t>
            </a:r>
          </a:p>
          <a:p>
            <a:r>
              <a:rPr lang="ru-RU" smtClean="0"/>
              <a:t>- ДМУКП: дефолт по операционной логике негативных исходов/эскалации.</a:t>
            </a:r>
          </a:p>
          <a:p>
            <a:r>
              <a:rPr lang="ru-RU" smtClean="0"/>
              <a:t>- Визуальный принцип: на графиках всегда маркируем, по какой логике рассчитан показатель.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Разные логики дефолта дают разные управленческие сигналы; их нельзя смешивать в одной метрике.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Все решения по переквалификации ФП/СФП принимать после проверки устойчивости в обеих логиках.</a:t>
            </a:r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8. </a:t>
            </a:r>
            <a:r>
              <a:rPr lang="en-US" smtClean="0"/>
              <a:t>Executive summary: 5 </a:t>
            </a:r>
            <a:r>
              <a:rPr lang="ru-RU" smtClean="0"/>
              <a:t>ключевых инсайтов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1. Дефолтные компании имеют больше ФП, чем недефолтные (в среднем 7.7 vs 4.5).</a:t>
            </a:r>
          </a:p>
          <a:p>
            <a:r>
              <a:rPr lang="ru-RU" smtClean="0"/>
              <a:t>2. Комбинации ФП намного сильнее одиночных факторов (Lift до 46.22).</a:t>
            </a:r>
          </a:p>
          <a:p>
            <a:r>
              <a:rPr lang="ru-RU" smtClean="0"/>
              <a:t>3. ФП 13 - универсальный маркер риска во всех сегментах.</a:t>
            </a:r>
          </a:p>
          <a:p>
            <a:r>
              <a:rPr lang="ru-RU" smtClean="0"/>
              <a:t>4. Профили риска по сегментам различаются (МкБ: 14/15; МСБ: 15.1.3; ККБ: 16/29/37).</a:t>
            </a:r>
          </a:p>
          <a:p>
            <a:r>
              <a:rPr lang="ru-RU" smtClean="0"/>
              <a:t>5. Мониторинг дает часть "ложных" и "технических" срабатываний, требующих донастройки.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Главный драйвер точности - не одиночный ФП, а корректно учтенные комбинации и сегментная специфика.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Переходить от единых порогов к сегментным правилам и комбинационным триггерам.</a:t>
            </a:r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9. Динамика ФП по сегментам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DR по сегментам близок: МкБ 1.33%, МСБ 1.19%, ККБ 1.26%.</a:t>
            </a:r>
          </a:p>
          <a:p>
            <a:r>
              <a:rPr lang="ru-RU" smtClean="0"/>
              <a:t>- Но "профиль ФП на дефолт" разный:</a:t>
            </a:r>
          </a:p>
          <a:p>
            <a:r>
              <a:rPr lang="ru-RU" smtClean="0"/>
              <a:t>- МкБ: дефолт при меньшем числе ФП (среднее 6.7).</a:t>
            </a:r>
          </a:p>
          <a:p>
            <a:r>
              <a:rPr lang="ru-RU" smtClean="0"/>
              <a:t>- МСБ: максимальный разрыв между дефолт/недефолт (медиана 11 vs 5).</a:t>
            </a:r>
          </a:p>
          <a:p>
            <a:r>
              <a:rPr lang="ru-RU" smtClean="0"/>
              <a:t>- ККБ: "чистый" недефолтный портфель (среднее ФП недефолтных 3.8).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Одинаковый DR не означает одинаковую логику формирования риска.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Настраивать пороги и классификацию ФП отдельно по сегментам.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10. ТОП-10 часто выявляемых ФП/СФП по сегментам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Рекомендуемый визуал: 3 столбчатых графика (по одному на сегмент).</a:t>
            </a:r>
          </a:p>
          <a:p>
            <a:r>
              <a:rPr lang="ru-RU" smtClean="0"/>
              <a:t>- В подписях отметить долю кейсов от сегмента и вклад в дефолтные кейсы.</a:t>
            </a:r>
          </a:p>
          <a:p>
            <a:r>
              <a:rPr lang="ru-RU" smtClean="0"/>
              <a:t>- Отдельной меткой пометить "массовые, но слабые" и "редкие, но опасные" ФП.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Частота выявления и "опасность" ФП - разные свойства; их нельзя смешивать в одном ранге.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Включить двухмерный приоритет: частота x Lift.</a:t>
            </a:r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11. ФП/СФП никогда не выявленные и только комбинационные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Перечень ФП/СФП, которые:</a:t>
            </a:r>
          </a:p>
          <a:p>
            <a:r>
              <a:rPr lang="ru-RU" smtClean="0"/>
              <a:t>- не выявлялись ни разу;</a:t>
            </a:r>
          </a:p>
          <a:p>
            <a:r>
              <a:rPr lang="ru-RU" smtClean="0"/>
              <a:t>- не выявлялись отдельно, но присутствуют в "опасных" комбинациях.</a:t>
            </a:r>
          </a:p>
          <a:p>
            <a:r>
              <a:rPr lang="ru-RU" smtClean="0"/>
              <a:t>- Рекомендуемый визуал: матрица статусов ФП (никогда, только в комбо, одиночно+комбо).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Часть правил не работает в текущем контуре или не подтверждается практикой применения.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Кандидаты на сокращение/переклассификацию: "никогда не выявлявшиеся" и системно незначимые ФП.</a:t>
            </a:r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12. Мониторинг: ошибочные, положительные и отрицательные исходы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По классификатору сценариев:</a:t>
            </a:r>
          </a:p>
          <a:p>
            <a:r>
              <a:rPr lang="ru-RU" smtClean="0"/>
              <a:t>- Ошибки: 3 класса.</a:t>
            </a:r>
          </a:p>
          <a:p>
            <a:r>
              <a:rPr lang="ru-RU" smtClean="0"/>
              <a:t>- Положительные: 30 классов.</a:t>
            </a:r>
          </a:p>
          <a:p>
            <a:r>
              <a:rPr lang="ru-RU" smtClean="0"/>
              <a:t>- Отрицательные: 15 классов.</a:t>
            </a:r>
          </a:p>
          <a:p>
            <a:r>
              <a:rPr lang="ru-RU" smtClean="0"/>
              <a:t>- Нейтральные: 27 классов.</a:t>
            </a:r>
          </a:p>
          <a:p>
            <a:r>
              <a:rPr lang="ru-RU" smtClean="0"/>
              <a:t>- ИПУ: 3 положительных, 1 отрицательный, 3 активных, 1 ошибка.</a:t>
            </a:r>
          </a:p>
          <a:p>
            <a:r>
              <a:rPr lang="ru-RU" smtClean="0"/>
              <a:t>- Рекомендуемый визуал: stacked bar по сегментам + top-листы исходов.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В мониторинге есть как сильный контур урегулирования, так и слой технических/ошибочных исходов.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Приоритезировать очистку ложных/технических сценариев как быстрый источник роста точности.</a:t>
            </a:r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13. Реализация дефолтов: что приводит и не приводит к дефолту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Блок А: TOP-20 ФП/СФП с наибольшим Lift к дефолту (в двух логиках: ДР и ДМУКП).</a:t>
            </a:r>
          </a:p>
          <a:p>
            <a:r>
              <a:rPr lang="ru-RU" smtClean="0"/>
              <a:t>- Блок Б: TOP-20 ФП/СФП, которые часто выявляются, но не ведут к дефолту.</a:t>
            </a:r>
          </a:p>
          <a:p>
            <a:r>
              <a:rPr lang="ru-RU" smtClean="0"/>
              <a:t>- Подпись: различать "редкие-острые" и "массовые-устойчивые" факторы.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Есть явные кандидаты:</a:t>
            </a:r>
          </a:p>
          <a:p>
            <a:r>
              <a:rPr lang="ru-RU" smtClean="0"/>
              <a:t>- на усиление/перевод в СФП (ведут к дефолту),</a:t>
            </a:r>
          </a:p>
          <a:p>
            <a:r>
              <a:rPr lang="ru-RU" smtClean="0"/>
              <a:t>- на смягчение/перевод в ФП (не ведут к дефолту).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Подготовить пакет точечных изменений классификатора и порогов существенности.</a:t>
            </a:r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14. Доля ФП и доля дефолтов по сегментам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Комбинированный график:</a:t>
            </a:r>
          </a:p>
          <a:p>
            <a:r>
              <a:rPr lang="ru-RU" smtClean="0"/>
              <a:t>- ось 1: среднее число ФП на компанию;</a:t>
            </a:r>
          </a:p>
          <a:p>
            <a:r>
              <a:rPr lang="ru-RU" smtClean="0"/>
              <a:t>- ось 2: DR сегмента.</a:t>
            </a:r>
          </a:p>
          <a:p>
            <a:r>
              <a:rPr lang="ru-RU" smtClean="0"/>
              <a:t>- МкБ: 6.7/4.0 (деф/недеф), DR 1.33%.</a:t>
            </a:r>
          </a:p>
          <a:p>
            <a:r>
              <a:rPr lang="ru-RU" smtClean="0"/>
              <a:t>- МСБ: 10.4/6.2, DR 1.19%.</a:t>
            </a:r>
          </a:p>
          <a:p>
            <a:r>
              <a:rPr lang="ru-RU" smtClean="0"/>
              <a:t>- ККБ: 8.4/3.8, DR 1.26%.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DR близок, но "цена дефолта в ФП" различается: МСБ наиболее чувствителен к накоплению ФП.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Пересмотреть сегментные пороги "критического числа ФП" для эскалации.</a:t>
            </a:r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15. Комбинации ФП: где риск концентрируется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МкБ: комбинации до 100% дефолтности (например, 13 + 15.1.2 + 15.2).</a:t>
            </a:r>
          </a:p>
          <a:p>
            <a:r>
              <a:rPr lang="ru-RU" smtClean="0"/>
              <a:t>- МСБ: комбинации до 83.33% (доминирует участие 15.1.3).</a:t>
            </a:r>
          </a:p>
          <a:p>
            <a:r>
              <a:rPr lang="ru-RU" smtClean="0"/>
              <a:t>- ККБ: пик около 57.14%, ядро вокруг 13 + 16.1 + 2.2.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Комбинации дают максимальную дискриминацию риска, особенно в МкБ и МСБ.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В правилах мониторинга и эскалации учитывать не только факт ФП, но и набор сочетаний.</a:t>
            </a:r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16. Корреляции ФП и дефолта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Корреляция Phi по топ-ФП:</a:t>
            </a:r>
          </a:p>
          <a:p>
            <a:r>
              <a:rPr lang="ru-RU" smtClean="0"/>
              <a:t>- МкБ: сильная пара 26.1.1-26.1.2 (0.460).</a:t>
            </a:r>
          </a:p>
          <a:p>
            <a:r>
              <a:rPr lang="ru-RU" smtClean="0"/>
              <a:t>- МСБ: специфичная пара 16.1-37.2.1 (0.409).</a:t>
            </a:r>
          </a:p>
          <a:p>
            <a:r>
              <a:rPr lang="ru-RU" smtClean="0"/>
              <a:t>- ККБ: максимум 29.13.1-29.13.3 (0.509), доминирует кластер 29.x.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Внутрисегментная структура связей ФП разная; универсальная единая модель не оптимальна.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Реализовать сегментные правила с отдельными "кластерами совместной эскалации".</a:t>
            </a:r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17. Сегмент МкБ: результаты гипотез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Подтверждено:</a:t>
            </a:r>
          </a:p>
          <a:p>
            <a:r>
              <a:rPr lang="ru-RU" smtClean="0"/>
              <a:t>- ФП 13, 14.3.x, 15.x формируют ядро риска.</a:t>
            </a:r>
          </a:p>
          <a:p>
            <a:r>
              <a:rPr lang="ru-RU" smtClean="0"/>
              <a:t>- Есть комбинации с дефолтностью до 100%.</a:t>
            </a:r>
          </a:p>
          <a:p>
            <a:r>
              <a:rPr lang="ru-RU" smtClean="0"/>
              <a:t>- Наблюдение:</a:t>
            </a:r>
          </a:p>
          <a:p>
            <a:r>
              <a:rPr lang="ru-RU" smtClean="0"/>
              <a:t>- Для МкБ дефолт наступает при относительно меньшем числе ФП.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МкБ чувствителен к ранним комбинациям из ограниченного набора ФП.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Усилить раннюю эскалацию при связках 13 + 14.3.x + 15.x.</a:t>
            </a:r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18. Сегмент МСБ: результаты гипотез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Подтверждено:</a:t>
            </a:r>
          </a:p>
          <a:p>
            <a:r>
              <a:rPr lang="ru-RU" smtClean="0"/>
              <a:t>- Максимальный разрыв дефолт/недефолт по числу ФП (медиана 11 vs 5).</a:t>
            </a:r>
          </a:p>
          <a:p>
            <a:r>
              <a:rPr lang="ru-RU" smtClean="0"/>
              <a:t>- ФП 15.1.3 - ключевой усилитель риска в комбинациях.</a:t>
            </a:r>
          </a:p>
          <a:p>
            <a:r>
              <a:rPr lang="ru-RU" smtClean="0"/>
              <a:t>- Ограничение:</a:t>
            </a:r>
          </a:p>
          <a:p>
            <a:r>
              <a:rPr lang="ru-RU" smtClean="0"/>
              <a:t>- Часть экстремальных Lift формируется на малых выборках.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Для МСБ комбинации с 15.1.3 - сильный ранний сигнал, но нужна дисциплина по минимальной поддержке.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Ввести правило "повышенный контроль" для комбинаций с 15.1.3 при достижении порога по объему.</a:t>
            </a:r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19. Сегмент ККБ: результаты гипотез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Подтверждено:</a:t>
            </a:r>
          </a:p>
          <a:p>
            <a:r>
              <a:rPr lang="ru-RU" smtClean="0"/>
              <a:t>- Доминируют ковенантные и финансовые кластеры (29.x, 16.x, 37.x).</a:t>
            </a:r>
          </a:p>
          <a:p>
            <a:r>
              <a:rPr lang="ru-RU" smtClean="0"/>
              <a:t>- Сильные корреляционные пары внутри 29.x.</a:t>
            </a:r>
          </a:p>
          <a:p>
            <a:r>
              <a:rPr lang="ru-RU" smtClean="0"/>
              <a:t>- Особенность:</a:t>
            </a:r>
          </a:p>
          <a:p>
            <a:r>
              <a:rPr lang="ru-RU" smtClean="0"/>
              <a:t>- Меньшее число дефолтов ограничивает концентрацию 100%-ных комбинаций.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Для ККБ ключевой риск в сложных структурных сочетаниях (ковенанты + финустойчивость), а не в массовых одиночных ФП.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Уточнить правила ККБ вокруг кластера 29.x и его совместимости с 16.x.</a:t>
            </a:r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Слайд 20. Приоритизация инициатив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mtClean="0"/>
              <a:t>Что показываем</a:t>
            </a:r>
          </a:p>
          <a:p>
            <a:r>
              <a:rPr lang="ru-RU" smtClean="0"/>
              <a:t>- Quick wins (0-3 месяца):</a:t>
            </a:r>
          </a:p>
          <a:p>
            <a:r>
              <a:rPr lang="ru-RU" smtClean="0"/>
              <a:t>- убрать/почистить ошибочные и технические статусы мониторинга;</a:t>
            </a:r>
          </a:p>
          <a:p>
            <a:r>
              <a:rPr lang="ru-RU" smtClean="0"/>
              <a:t>- маркировать редкие ФП с нестабильной оценкой;</a:t>
            </a:r>
          </a:p>
          <a:p>
            <a:r>
              <a:rPr lang="ru-RU" smtClean="0"/>
              <a:t>- внедрить сегментные дашборды частота x Lift.</a:t>
            </a:r>
          </a:p>
          <a:p>
            <a:r>
              <a:rPr lang="ru-RU" smtClean="0"/>
              <a:t>- Среднесрочно (3-6 месяцев):</a:t>
            </a:r>
          </a:p>
          <a:p>
            <a:r>
              <a:rPr lang="ru-RU" smtClean="0"/>
              <a:t>- обновить пороги существенности по сегментам;</a:t>
            </a:r>
          </a:p>
          <a:p>
            <a:r>
              <a:rPr lang="ru-RU" smtClean="0"/>
              <a:t>- внедрить комбинационные триггеры в мониторинг.</a:t>
            </a:r>
          </a:p>
          <a:p>
            <a:r>
              <a:rPr lang="ru-RU" smtClean="0"/>
              <a:t>- Требует доисследования (6+ месяцев):</a:t>
            </a:r>
          </a:p>
          <a:p>
            <a:r>
              <a:rPr lang="ru-RU" smtClean="0"/>
              <a:t>- проверить стабильность выводов на новых когортах;</a:t>
            </a:r>
          </a:p>
          <a:p>
            <a:r>
              <a:rPr lang="ru-RU" smtClean="0"/>
              <a:t>- донастроить ДМУКП-логику дефолта по итогам пилота.</a:t>
            </a:r>
          </a:p>
          <a:p>
            <a:r>
              <a:rPr lang="ru-RU" smtClean="0"/>
              <a:t>Ключевой вывод</a:t>
            </a:r>
          </a:p>
          <a:p>
            <a:r>
              <a:rPr lang="ru-RU" smtClean="0"/>
              <a:t>- Наибольший эффект дает связка: очистка мониторинга + сегментные комбинационные правила.</a:t>
            </a:r>
          </a:p>
          <a:p>
            <a:r>
              <a:rPr lang="ru-RU" smtClean="0"/>
              <a:t>Управленческое действие</a:t>
            </a:r>
          </a:p>
          <a:p>
            <a:r>
              <a:rPr lang="ru-RU" smtClean="0"/>
              <a:t>- Утвердить дорожную карту внедрения с контрольными метриками (precision/recall, доля ложных срабатываний, DR-capture).</a:t>
            </a:r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Формат приоритизации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P1: запуск сразу (высокий эффект, низкая/средняя сложность).</a:t>
            </a:r>
          </a:p>
          <a:p>
            <a:r>
              <a:rPr lang="ru-RU" smtClean="0"/>
              <a:t>- P2: запуск после пилота (средний эффект, средняя сложность).</a:t>
            </a:r>
          </a:p>
          <a:p>
            <a:r>
              <a:rPr lang="ru-RU" smtClean="0"/>
              <a:t>- P3: доисследование (эффект потенциально высокий, но недостаточно данных).</a:t>
            </a:r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1) МкБ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mtClean="0"/>
              <a:t>### Контекст</a:t>
            </a:r>
          </a:p>
          <a:p>
            <a:r>
              <a:rPr lang="ru-RU" smtClean="0"/>
              <a:t>- Дефолтные компании: в среднем 6.7 ФП vs 4.0 у недефолтных.</a:t>
            </a:r>
          </a:p>
          <a:p>
            <a:r>
              <a:rPr lang="ru-RU" smtClean="0"/>
              <a:t>- Комбинации 13 + 14.3.x + 15.x дают экстремально высокий риск (до 100% дефолтности в топ-кейсах).</a:t>
            </a:r>
          </a:p>
          <a:p>
            <a:r>
              <a:rPr lang="ru-RU" smtClean="0"/>
              <a:t>### Рекомендации</a:t>
            </a:r>
          </a:p>
          <a:p>
            <a:r>
              <a:rPr lang="ru-RU" smtClean="0"/>
              <a:t>1. P1: Повысить уровень эскалации для связок 13 + 14.3.x + 15.x.</a:t>
            </a:r>
          </a:p>
          <a:p>
            <a:r>
              <a:rPr lang="ru-RU" smtClean="0"/>
              <a:t>- Действие: перевод в контур усиленного мониторинга без ожидания накопления дополнительных ФП.</a:t>
            </a:r>
          </a:p>
          <a:p>
            <a:r>
              <a:rPr lang="ru-RU" smtClean="0"/>
              <a:t>- Ожидаемый эффект: более ранний захват высокорисковых кейсов.</a:t>
            </a:r>
          </a:p>
          <a:p>
            <a:r>
              <a:rPr lang="ru-RU" smtClean="0"/>
              <a:t>2. P1: Пересмотреть роль отдельных ФП 14.3/15.x как триггеров совместного действия.</a:t>
            </a:r>
          </a:p>
          <a:p>
            <a:r>
              <a:rPr lang="ru-RU" smtClean="0"/>
              <a:t>- Действие: в правилах фиксировать не только отдельный код ФП, но и наличие связанного кода-партнера.</a:t>
            </a:r>
          </a:p>
          <a:p>
            <a:r>
              <a:rPr lang="ru-RU" smtClean="0"/>
              <a:t>- Ожидаемый эффект: снижение доли пропусков опасных комбинаций.</a:t>
            </a:r>
          </a:p>
          <a:p>
            <a:r>
              <a:rPr lang="ru-RU" smtClean="0"/>
              <a:t>3. P2: Уточнить порог существенности по числу ФП для МкБ.</a:t>
            </a:r>
          </a:p>
          <a:p>
            <a:r>
              <a:rPr lang="ru-RU" smtClean="0"/>
              <a:t>- Действие: тест порога "ранней тревоги" на уровне меньшего числа ФП, чем в МСБ.</a:t>
            </a:r>
          </a:p>
          <a:p>
            <a:r>
              <a:rPr lang="ru-RU" smtClean="0"/>
              <a:t>- Ожидаемый эффект: ускорение реакции на риск в сегменте, где дефолт наступает "раньше".</a:t>
            </a:r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2) МСБ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mtClean="0"/>
              <a:t>### Контекст</a:t>
            </a:r>
          </a:p>
          <a:p>
            <a:r>
              <a:rPr lang="ru-RU" smtClean="0"/>
              <a:t>- Максимальный разрыв по числу ФП между дефолтными и недефолтными (медиана 11 vs 5).</a:t>
            </a:r>
          </a:p>
          <a:p>
            <a:r>
              <a:rPr lang="ru-RU" smtClean="0"/>
              <a:t>- ФП 15.1.3 регулярно усиливает риск в комбинациях, но часть наблюдений малочисленна.</a:t>
            </a:r>
          </a:p>
          <a:p>
            <a:r>
              <a:rPr lang="ru-RU" smtClean="0"/>
              <a:t>### Рекомендации</a:t>
            </a:r>
          </a:p>
          <a:p>
            <a:r>
              <a:rPr lang="ru-RU" smtClean="0"/>
              <a:t>1. P1: Ввести правило повышенного контроля для комбинаций с 15.1.3.</a:t>
            </a:r>
          </a:p>
          <a:p>
            <a:r>
              <a:rPr lang="ru-RU" smtClean="0"/>
              <a:t>- Действие: автоматический флаг "high priority review" для кейсов с 15.1.3 + дополнительный ФП из риск-кластера.</a:t>
            </a:r>
          </a:p>
          <a:p>
            <a:r>
              <a:rPr lang="ru-RU" smtClean="0"/>
              <a:t>- Ожидаемый эффект: улучшение ранней идентификации "тяжелых" МСБ-кейсов.</a:t>
            </a:r>
          </a:p>
          <a:p>
            <a:r>
              <a:rPr lang="ru-RU" smtClean="0"/>
              <a:t>2. P2: Применять двухступенчатую валидацию редких комбинаций.</a:t>
            </a:r>
          </a:p>
          <a:p>
            <a:r>
              <a:rPr lang="ru-RU" smtClean="0"/>
              <a:t>- Действие: если support низкий, решение о переквалификации принимать только после накопления наблюдений.</a:t>
            </a:r>
          </a:p>
          <a:p>
            <a:r>
              <a:rPr lang="ru-RU" smtClean="0"/>
              <a:t>- Ожидаемый эффект: меньше переобучения на редких кейсах и ложных реформ правил.</a:t>
            </a:r>
          </a:p>
          <a:p>
            <a:r>
              <a:rPr lang="ru-RU" smtClean="0"/>
              <a:t>3. P2: Повысить вес комбинационного анализа в МСБ-мониторинге.</a:t>
            </a:r>
          </a:p>
          <a:p>
            <a:r>
              <a:rPr lang="ru-RU" smtClean="0"/>
              <a:t>- Действие: отдельный рейтинг "комбинации &gt; одиночные ФП" в витрине мониторинга.</a:t>
            </a:r>
          </a:p>
          <a:p>
            <a:r>
              <a:rPr lang="ru-RU" smtClean="0"/>
              <a:t>- Ожидаемый эффект: увеличение точности фокуса на действительно рисковых клиентах.</a:t>
            </a:r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3) ККБ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smtClean="0"/>
              <a:t>### Контекст</a:t>
            </a:r>
          </a:p>
          <a:p>
            <a:r>
              <a:rPr lang="ru-RU" smtClean="0"/>
              <a:t>- Кластер 29.x (ковенанты) и связи с 16.x/37.x дают основной сигнал.</a:t>
            </a:r>
          </a:p>
          <a:p>
            <a:r>
              <a:rPr lang="ru-RU" smtClean="0"/>
              <a:t>- Выборка дефолтов относительно небольшая, поэтому часть оценок чувствительна к новым данным.</a:t>
            </a:r>
          </a:p>
          <a:p>
            <a:r>
              <a:rPr lang="ru-RU" smtClean="0"/>
              <a:t>### Рекомендации</a:t>
            </a:r>
          </a:p>
          <a:p>
            <a:r>
              <a:rPr lang="ru-RU" smtClean="0"/>
              <a:t>1. P1: Перенастроить ковенантный контур (группа 29.x) как отдельный блок риска.</a:t>
            </a:r>
          </a:p>
          <a:p>
            <a:r>
              <a:rPr lang="ru-RU" smtClean="0"/>
              <a:t>- Действие: отдельные правила эскалации при совместном срабатывании 29.x и 16.x.</a:t>
            </a:r>
          </a:p>
          <a:p>
            <a:r>
              <a:rPr lang="ru-RU" smtClean="0"/>
              <a:t>- Ожидаемый эффект: более релевантный контроль для специфики крупного бизнеса.</a:t>
            </a:r>
          </a:p>
          <a:p>
            <a:r>
              <a:rPr lang="ru-RU" smtClean="0"/>
              <a:t>2. P2: Ввести "структурный профиль риска" для ККБ.</a:t>
            </a:r>
          </a:p>
          <a:p>
            <a:r>
              <a:rPr lang="ru-RU" smtClean="0"/>
              <a:t>- Действие: вместо единичных триггеров использовать профиль из нескольких взаимосвязанных ФП.</a:t>
            </a:r>
          </a:p>
          <a:p>
            <a:r>
              <a:rPr lang="ru-RU" smtClean="0"/>
              <a:t>- Ожидаемый эффект: снижение шумовых срабатываний и рост интерпретируемости решений.</a:t>
            </a:r>
          </a:p>
          <a:p>
            <a:r>
              <a:rPr lang="ru-RU" smtClean="0"/>
              <a:t>3. P3: Переоценить редкие высокие Lift после расширения горизонта данных.</a:t>
            </a:r>
          </a:p>
          <a:p>
            <a:r>
              <a:rPr lang="ru-RU" smtClean="0"/>
              <a:t>- Действие: квартальный пересчет приращением выборки.</a:t>
            </a:r>
          </a:p>
          <a:p>
            <a:r>
              <a:rPr lang="ru-RU" smtClean="0"/>
              <a:t>- Ожидаемый эффект: устойчивые изменения правил без переоценки малых чисел.</a:t>
            </a:r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4) Сквозные решения для всех сегментов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P1: </a:t>
            </a:r>
            <a:r>
              <a:rPr lang="ru-RU" smtClean="0"/>
              <a:t>Очистить ошибочные/технические сценарии мониторинга.</a:t>
            </a:r>
          </a:p>
          <a:p>
            <a:r>
              <a:rPr lang="ru-RU" smtClean="0"/>
              <a:t>2. </a:t>
            </a:r>
            <a:r>
              <a:rPr lang="en-US" smtClean="0"/>
              <a:t>P1: </a:t>
            </a:r>
            <a:r>
              <a:rPr lang="ru-RU" smtClean="0"/>
              <a:t>Единообразно маркировать редкие ФП (низкая устойчивость оценки).</a:t>
            </a:r>
          </a:p>
          <a:p>
            <a:r>
              <a:rPr lang="ru-RU" smtClean="0"/>
              <a:t>3. </a:t>
            </a:r>
            <a:r>
              <a:rPr lang="en-US" smtClean="0"/>
              <a:t>P2: </a:t>
            </a:r>
            <a:r>
              <a:rPr lang="ru-RU" smtClean="0"/>
              <a:t>Внедрить сегментные дашборды частота </a:t>
            </a:r>
            <a:r>
              <a:rPr lang="en-US" smtClean="0"/>
              <a:t>x Lift x Support.</a:t>
            </a:r>
          </a:p>
          <a:p>
            <a:r>
              <a:rPr lang="en-US" smtClean="0"/>
              <a:t>4. P2: </a:t>
            </a:r>
            <a:r>
              <a:rPr lang="ru-RU" smtClean="0"/>
              <a:t>Проводить регулярный </a:t>
            </a:r>
            <a:r>
              <a:rPr lang="en-US" smtClean="0"/>
              <a:t>post-implementation review </a:t>
            </a:r>
            <a:r>
              <a:rPr lang="ru-RU" smtClean="0"/>
              <a:t>изменений ФП/СФП.</a:t>
            </a:r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5) KPI для контроля внедрения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Снижение доли ложноположительных срабатываний в мониторинге.</a:t>
            </a:r>
          </a:p>
          <a:p>
            <a:r>
              <a:rPr lang="ru-RU" smtClean="0"/>
              <a:t>- Рост доли дефолтов, покрытых "high-risk" ФП/комбинациями (DR capture).</a:t>
            </a:r>
          </a:p>
          <a:p>
            <a:r>
              <a:rPr lang="ru-RU" smtClean="0"/>
              <a:t>- Стабильность Lift ключевых ФП/комбинаций по кварталам.</a:t>
            </a:r>
          </a:p>
          <a:p>
            <a:r>
              <a:rPr lang="ru-RU" smtClean="0"/>
              <a:t>- Снижение времени до эскалации по high-risk кейсам.</a:t>
            </a:r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A1. Lift (во сколько раз риск выше среднего)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mtClean="0"/>
              <a:t>Формула</a:t>
            </a:r>
          </a:p>
          <a:p>
            <a:r>
              <a:rPr lang="ru-RU" smtClean="0"/>
              <a:t>Lift = P(дефолт | признак) / P(дефолт)</a:t>
            </a:r>
          </a:p>
          <a:p>
            <a:r>
              <a:rPr lang="ru-RU" smtClean="0"/>
              <a:t>Простое объяснение</a:t>
            </a:r>
          </a:p>
          <a:p>
            <a:r>
              <a:rPr lang="ru-RU" smtClean="0"/>
              <a:t>Lift показывает, насколько наличие ФП повышает вероятность дефолта относительно обычного фона.</a:t>
            </a:r>
          </a:p>
          <a:p>
            <a:r>
              <a:rPr lang="ru-RU" smtClean="0"/>
              <a:t>Как читать</a:t>
            </a:r>
          </a:p>
          <a:p>
            <a:r>
              <a:rPr lang="ru-RU" smtClean="0"/>
              <a:t>- Lift = 1: признак не меняет риск.</a:t>
            </a:r>
          </a:p>
          <a:p>
            <a:r>
              <a:rPr lang="ru-RU" smtClean="0"/>
              <a:t>- Lift = 2: риск в 2 раза выше среднего.</a:t>
            </a:r>
          </a:p>
          <a:p>
            <a:r>
              <a:rPr lang="ru-RU" smtClean="0"/>
              <a:t>- Lift = 10: риск в 10 раз выше среднего.</a:t>
            </a:r>
          </a:p>
          <a:p>
            <a:r>
              <a:rPr lang="ru-RU" smtClean="0"/>
              <a:t>Пример</a:t>
            </a:r>
          </a:p>
          <a:p>
            <a:r>
              <a:rPr lang="ru-RU" smtClean="0"/>
              <a:t>Если в сегменте базовый DR = 1%, а у компаний с ФП дефолтность 20%, то Lift = 20.</a:t>
            </a:r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A2. Доверительный интервал (range неопределенности)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mtClean="0"/>
              <a:t>Что это</a:t>
            </a:r>
          </a:p>
          <a:p>
            <a:r>
              <a:rPr lang="ru-RU" smtClean="0"/>
              <a:t>Диапазон, в котором с высокой вероятностью лежит "истинное" значение показателя.</a:t>
            </a:r>
          </a:p>
          <a:p>
            <a:r>
              <a:rPr lang="ru-RU" smtClean="0"/>
              <a:t>Простое объяснение</a:t>
            </a:r>
          </a:p>
          <a:p>
            <a:r>
              <a:rPr lang="ru-RU" smtClean="0"/>
              <a:t>Это "коридор уверенности". Чем он шире, тем меньше надежность оценки.</a:t>
            </a:r>
          </a:p>
          <a:p>
            <a:r>
              <a:rPr lang="ru-RU" smtClean="0"/>
              <a:t>Как читать</a:t>
            </a:r>
          </a:p>
          <a:p>
            <a:r>
              <a:rPr lang="ru-RU" smtClean="0"/>
              <a:t>- Узкий интервал: оценка стабильна.</a:t>
            </a:r>
          </a:p>
          <a:p>
            <a:r>
              <a:rPr lang="ru-RU" smtClean="0"/>
              <a:t>- Широкий интервал: данных мало или высокая вариативность.</a:t>
            </a:r>
          </a:p>
          <a:p>
            <a:r>
              <a:rPr lang="ru-RU" smtClean="0"/>
              <a:t>Пример</a:t>
            </a:r>
          </a:p>
          <a:p>
            <a:r>
              <a:rPr lang="ru-RU" smtClean="0"/>
              <a:t>- Lift = 8, интервал [7; 9] -&gt; результат устойчивый.</a:t>
            </a:r>
          </a:p>
          <a:p>
            <a:r>
              <a:rPr lang="ru-RU" smtClean="0"/>
              <a:t>- Lift = 8, интервал [2; 20] -&gt; нужно больше данных перед решением.</a:t>
            </a:r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A3. p-value (насколько вероятна случайность)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mtClean="0"/>
              <a:t>Что это</a:t>
            </a:r>
          </a:p>
          <a:p>
            <a:r>
              <a:rPr lang="ru-RU" smtClean="0"/>
              <a:t>Вероятность получить наблюдаемый эффект случайно, если в реальности связи нет.</a:t>
            </a:r>
          </a:p>
          <a:p>
            <a:r>
              <a:rPr lang="ru-RU" smtClean="0"/>
              <a:t>Как читать</a:t>
            </a:r>
          </a:p>
          <a:p>
            <a:r>
              <a:rPr lang="ru-RU" smtClean="0"/>
              <a:t>- p-value &lt; 0.05: связь обычно считают статистически значимой.</a:t>
            </a:r>
          </a:p>
          <a:p>
            <a:r>
              <a:rPr lang="ru-RU" smtClean="0"/>
              <a:t>- p-value &gt;= 0.05: данных недостаточно, чтобы уверенно утверждать связь.</a:t>
            </a:r>
          </a:p>
          <a:p>
            <a:r>
              <a:rPr lang="ru-RU" smtClean="0"/>
              <a:t>Важно: p-value не равен "вероятности истины гипотезы".</a:t>
            </a:r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A4. FDR-коррекция (защита от ложных находок)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mtClean="0"/>
              <a:t>Зачем нужна</a:t>
            </a:r>
          </a:p>
          <a:p>
            <a:r>
              <a:rPr lang="ru-RU" smtClean="0"/>
              <a:t>Когда проверяется много ФП сразу, часть "значимых" результатов появляется случайно.</a:t>
            </a:r>
          </a:p>
          <a:p>
            <a:r>
              <a:rPr lang="ru-RU" smtClean="0"/>
              <a:t>Что делает</a:t>
            </a:r>
          </a:p>
          <a:p>
            <a:r>
              <a:rPr lang="ru-RU" smtClean="0"/>
              <a:t>FDR-коррекция пересчитывает p-value так, чтобы контролировать долю ложных открытий.</a:t>
            </a:r>
          </a:p>
          <a:p>
            <a:r>
              <a:rPr lang="ru-RU" smtClean="0"/>
              <a:t>Как читать</a:t>
            </a:r>
          </a:p>
          <a:p>
            <a:r>
              <a:rPr lang="ru-RU" smtClean="0"/>
              <a:t>- FDR p-value &lt; 0.05: связь прошла контроль множественных проверок.</a:t>
            </a:r>
          </a:p>
          <a:p>
            <a:r>
              <a:rPr lang="ru-RU" smtClean="0"/>
              <a:t>- Если без FDR значимо, а с FDR незначимо -&gt; скорее всего эффект нестабилен.</a:t>
            </a:r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A5. Support (насколько признак массовый)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Формула</a:t>
            </a:r>
          </a:p>
          <a:p>
            <a:r>
              <a:rPr lang="ru-RU" smtClean="0"/>
              <a:t>Support = N(кейсов с признаком) / N(всех кейсов)</a:t>
            </a:r>
          </a:p>
          <a:p>
            <a:r>
              <a:rPr lang="ru-RU" smtClean="0"/>
              <a:t>Как читать</a:t>
            </a:r>
          </a:p>
          <a:p>
            <a:r>
              <a:rPr lang="ru-RU" smtClean="0"/>
              <a:t>- Высокий support: признак массовый.</a:t>
            </a:r>
          </a:p>
          <a:p>
            <a:r>
              <a:rPr lang="ru-RU" smtClean="0"/>
              <a:t>- Низкий support: признак редкий, оценки могут "скакать".</a:t>
            </a:r>
          </a:p>
          <a:p>
            <a:r>
              <a:rPr lang="ru-RU" smtClean="0"/>
              <a:t>Практика: редкие признаки не удаляются автоматически, но требуют осторожной интерпретации.</a:t>
            </a:r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A6. Confidence (абсолютный риск при наличии ФП)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Формула</a:t>
            </a:r>
          </a:p>
          <a:p>
            <a:r>
              <a:rPr lang="ru-RU" smtClean="0"/>
              <a:t>Confidence = P(дефолт | ФП)</a:t>
            </a:r>
          </a:p>
          <a:p>
            <a:r>
              <a:rPr lang="ru-RU" smtClean="0"/>
              <a:t>Как читать</a:t>
            </a:r>
          </a:p>
          <a:p>
            <a:r>
              <a:rPr lang="ru-RU" smtClean="0"/>
              <a:t>- Confidence отвечает на вопрос "как часто дефолт, если ФП уже есть".</a:t>
            </a:r>
          </a:p>
          <a:p>
            <a:r>
              <a:rPr lang="ru-RU" smtClean="0"/>
              <a:t>- Lift отвечает на вопрос "насколько это выше/ниже обычного фона".</a:t>
            </a:r>
          </a:p>
          <a:p>
            <a:r>
              <a:rPr lang="ru-RU" smtClean="0"/>
              <a:t>Обе метрики нужны вместе.</a:t>
            </a:r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A7. Precision и Recall (качество сигналов)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Precision (точность)</a:t>
            </a:r>
          </a:p>
          <a:p>
            <a:r>
              <a:rPr lang="ru-RU" smtClean="0"/>
              <a:t>Из всех сработавших сигналов сколько оказались действительно рискованными.</a:t>
            </a:r>
          </a:p>
          <a:p>
            <a:r>
              <a:rPr lang="ru-RU" smtClean="0"/>
              <a:t>Recall (полнота)</a:t>
            </a:r>
          </a:p>
          <a:p>
            <a:r>
              <a:rPr lang="ru-RU" smtClean="0"/>
              <a:t>Какую долю всех реальных дефолтов мы поймали.</a:t>
            </a:r>
          </a:p>
          <a:p>
            <a:r>
              <a:rPr lang="ru-RU" smtClean="0"/>
              <a:t>Компромисс</a:t>
            </a:r>
          </a:p>
          <a:p>
            <a:r>
              <a:rPr lang="ru-RU" smtClean="0"/>
              <a:t>- Повышаем precision -&gt; обычно падает recall.</a:t>
            </a:r>
          </a:p>
          <a:p>
            <a:r>
              <a:rPr lang="ru-RU" smtClean="0"/>
              <a:t>- Повышаем recall -&gt; обычно растет число ложных срабатываний.</a:t>
            </a:r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A8. False Positive / False Negative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- False Positive (ложноположительный): система "кричит риск", но дефолта нет.</a:t>
            </a:r>
          </a:p>
          <a:p>
            <a:r>
              <a:rPr lang="ru-RU" smtClean="0"/>
              <a:t>- False Negative (ложноотрицательный): система "не видит риск", но дефолт случается.</a:t>
            </a:r>
          </a:p>
          <a:p>
            <a:r>
              <a:rPr lang="ru-RU" smtClean="0"/>
              <a:t>Для бизнеса:</a:t>
            </a:r>
          </a:p>
          <a:p>
            <a:r>
              <a:rPr lang="ru-RU" smtClean="0"/>
              <a:t>- Слишком много FP -&gt; перегрузка мониторинга.</a:t>
            </a:r>
          </a:p>
          <a:p>
            <a:r>
              <a:rPr lang="ru-RU" smtClean="0"/>
              <a:t>- Слишком много FN -&gt; прямой недозахват риска.</a:t>
            </a:r>
            <a:endParaRPr lang="ru-R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A9. Корреляция не равна причинности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Если два ФП часто встречаются вместе, это не означает, что один "вызывает" другой.</a:t>
            </a:r>
          </a:p>
          <a:p>
            <a:r>
              <a:rPr lang="ru-RU" smtClean="0"/>
              <a:t>Это означает, что их полезно анализировать совместно и включать в комбинационные правила.</a:t>
            </a:r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A10. Как читать слайды с графиками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1. Сначала смотрим на базу сравнения (период, сегмент, логика дефолта).</a:t>
            </a:r>
          </a:p>
          <a:p>
            <a:r>
              <a:rPr lang="ru-RU" smtClean="0"/>
              <a:t>2. Затем на массовость (support).</a:t>
            </a:r>
          </a:p>
          <a:p>
            <a:r>
              <a:rPr lang="ru-RU" smtClean="0"/>
              <a:t>3. Потом на силу эффекта (lift/confidence).</a:t>
            </a:r>
          </a:p>
          <a:p>
            <a:r>
              <a:rPr lang="ru-RU" smtClean="0"/>
              <a:t>4. И только после этого на статистическую устойчивость (интервалы, FDR).</a:t>
            </a:r>
          </a:p>
          <a:p>
            <a:r>
              <a:rPr lang="ru-RU" smtClean="0"/>
              <a:t>Такой порядок защищает от ошибочных выводов по редким, но "красивым" цифрам.</a:t>
            </a:r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3018</Words>
  <Application>Microsoft Office PowerPoint</Application>
  <PresentationFormat>Экран (4:3)</PresentationFormat>
  <Paragraphs>344</Paragraphs>
  <Slides>36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7" baseType="lpstr">
      <vt:lpstr>Тема Office</vt:lpstr>
      <vt:lpstr>Слайд 1. Аналитика ФП/СФП и дефолтов: итог исследования</vt:lpstr>
      <vt:lpstr>Слайд 2. Повестка</vt:lpstr>
      <vt:lpstr>Слайд 3. Постановка задачи и гипотезы</vt:lpstr>
      <vt:lpstr>Слайд 4. Входные параметры и периметр</vt:lpstr>
      <vt:lpstr>Слайд 5. Источники и качество данных</vt:lpstr>
      <vt:lpstr>Слайд 6. Логика соотнесения ФП/мониторинга/дефолта</vt:lpstr>
      <vt:lpstr>Слайд 7. Что считаем дефолтом: ДР vs ДМУКП</vt:lpstr>
      <vt:lpstr>Слайд 8. Executive summary: 5 ключевых инсайтов</vt:lpstr>
      <vt:lpstr>Слайд 9. Динамика ФП по сегментам</vt:lpstr>
      <vt:lpstr>Слайд 10. ТОП-10 часто выявляемых ФП/СФП по сегментам</vt:lpstr>
      <vt:lpstr>Слайд 11. ФП/СФП никогда не выявленные и только комбинационные</vt:lpstr>
      <vt:lpstr>Слайд 12. Мониторинг: ошибочные, положительные и отрицательные исходы</vt:lpstr>
      <vt:lpstr>Слайд 13. Реализация дефолтов: что приводит и не приводит к дефолту</vt:lpstr>
      <vt:lpstr>Слайд 14. Доля ФП и доля дефолтов по сегментам</vt:lpstr>
      <vt:lpstr>Слайд 15. Комбинации ФП: где риск концентрируется</vt:lpstr>
      <vt:lpstr>Слайд 16. Корреляции ФП и дефолта</vt:lpstr>
      <vt:lpstr>Слайд 17. Сегмент МкБ: результаты гипотез</vt:lpstr>
      <vt:lpstr>Слайд 18. Сегмент МСБ: результаты гипотез</vt:lpstr>
      <vt:lpstr>Слайд 19. Сегмент ККБ: результаты гипотез</vt:lpstr>
      <vt:lpstr>Слайд 20. Приоритизация инициатив</vt:lpstr>
      <vt:lpstr>Формат приоритизации</vt:lpstr>
      <vt:lpstr>1) МкБ</vt:lpstr>
      <vt:lpstr>2) МСБ</vt:lpstr>
      <vt:lpstr>3) ККБ</vt:lpstr>
      <vt:lpstr>4) Сквозные решения для всех сегментов</vt:lpstr>
      <vt:lpstr>5) KPI для контроля внедрения</vt:lpstr>
      <vt:lpstr>A1. Lift (во сколько раз риск выше среднего)</vt:lpstr>
      <vt:lpstr>A2. Доверительный интервал (range неопределенности)</vt:lpstr>
      <vt:lpstr>A3. p-value (насколько вероятна случайность)</vt:lpstr>
      <vt:lpstr>A4. FDR-коррекция (защита от ложных находок)</vt:lpstr>
      <vt:lpstr>A5. Support (насколько признак массовый)</vt:lpstr>
      <vt:lpstr>A6. Confidence (абсолютный риск при наличии ФП)</vt:lpstr>
      <vt:lpstr>A7. Precision и Recall (качество сигналов)</vt:lpstr>
      <vt:lpstr>A8. False Positive / False Negative</vt:lpstr>
      <vt:lpstr>A9. Корреляция не равна причинности</vt:lpstr>
      <vt:lpstr>A10. Как читать слайды с графиками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1. Аналитика ФП/СФП и дефолтов: итог исследования</dc:title>
  <dc:creator>Vladimir</dc:creator>
  <cp:lastModifiedBy>Vladimir</cp:lastModifiedBy>
  <cp:revision>1</cp:revision>
  <dcterms:created xsi:type="dcterms:W3CDTF">2026-04-15T06:28:39Z</dcterms:created>
  <dcterms:modified xsi:type="dcterms:W3CDTF">2026-04-15T06:28:41Z</dcterms:modified>
</cp:coreProperties>
</file>